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66" r:id="rId4"/>
    <p:sldId id="265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62" r:id="rId17"/>
    <p:sldId id="263" r:id="rId18"/>
    <p:sldId id="264" r:id="rId19"/>
  </p:sldIdLst>
  <p:sldSz cx="9144000" cy="6858000" type="screen4x3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66" d="100"/>
          <a:sy n="66" d="100"/>
        </p:scale>
        <p:origin x="-150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 smtClean="0"/>
              <a:t>انقر لتحرير نمط العنوان الثانوي الرئيسي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4C4B-E9F6-4770-8F42-056FCDF12845}" type="datetimeFigureOut">
              <a:rPr lang="ar-SA" smtClean="0"/>
              <a:t>12/16/1446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B29C-6839-4C4B-B8F7-35E66B2B20C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045123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4C4B-E9F6-4770-8F42-056FCDF12845}" type="datetimeFigureOut">
              <a:rPr lang="ar-SA" smtClean="0"/>
              <a:t>12/16/1446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B29C-6839-4C4B-B8F7-35E66B2B20C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56509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4C4B-E9F6-4770-8F42-056FCDF12845}" type="datetimeFigureOut">
              <a:rPr lang="ar-SA" smtClean="0"/>
              <a:t>12/16/1446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B29C-6839-4C4B-B8F7-35E66B2B20C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02505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4C4B-E9F6-4770-8F42-056FCDF12845}" type="datetimeFigureOut">
              <a:rPr lang="ar-SA" smtClean="0"/>
              <a:t>12/16/1446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B29C-6839-4C4B-B8F7-35E66B2B20C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24353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4C4B-E9F6-4770-8F42-056FCDF12845}" type="datetimeFigureOut">
              <a:rPr lang="ar-SA" smtClean="0"/>
              <a:t>12/16/1446</a:t>
            </a:fld>
            <a:endParaRPr lang="ar-SA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B29C-6839-4C4B-B8F7-35E66B2B20C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8012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4C4B-E9F6-4770-8F42-056FCDF12845}" type="datetimeFigureOut">
              <a:rPr lang="ar-SA" smtClean="0"/>
              <a:t>12/16/1446</a:t>
            </a:fld>
            <a:endParaRPr lang="ar-SA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B29C-6839-4C4B-B8F7-35E66B2B20C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69214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4C4B-E9F6-4770-8F42-056FCDF12845}" type="datetimeFigureOut">
              <a:rPr lang="ar-SA" smtClean="0"/>
              <a:t>12/16/1446</a:t>
            </a:fld>
            <a:endParaRPr lang="ar-SA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B29C-6839-4C4B-B8F7-35E66B2B20C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01813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4C4B-E9F6-4770-8F42-056FCDF12845}" type="datetimeFigureOut">
              <a:rPr lang="ar-SA" smtClean="0"/>
              <a:t>12/16/1446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B29C-6839-4C4B-B8F7-35E66B2B20C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20585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4C4B-E9F6-4770-8F42-056FCDF12845}" type="datetimeFigureOut">
              <a:rPr lang="ar-SA" smtClean="0"/>
              <a:t>12/16/1446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B29C-6839-4C4B-B8F7-35E66B2B20C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59834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4C4B-E9F6-4770-8F42-056FCDF12845}" type="datetimeFigureOut">
              <a:rPr lang="ar-SA" smtClean="0"/>
              <a:t>12/16/1446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B29C-6839-4C4B-B8F7-35E66B2B20C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00599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4C4B-E9F6-4770-8F42-056FCDF12845}" type="datetimeFigureOut">
              <a:rPr lang="ar-SA" smtClean="0"/>
              <a:t>12/16/1446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B29C-6839-4C4B-B8F7-35E66B2B20C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70355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D4C4B-E9F6-4770-8F42-056FCDF12845}" type="datetimeFigureOut">
              <a:rPr lang="ar-SA" smtClean="0"/>
              <a:t>12/16/1446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0FB29C-6839-4C4B-B8F7-35E66B2B20C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669701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467544" y="764704"/>
            <a:ext cx="7772400" cy="1470025"/>
          </a:xfrm>
        </p:spPr>
        <p:txBody>
          <a:bodyPr/>
          <a:lstStyle/>
          <a:p>
            <a:r>
              <a:rPr lang="ar-SA" b="1" dirty="0" smtClean="0"/>
              <a:t>بسم الله الرحمن الرحيم    </a:t>
            </a:r>
            <a:r>
              <a:rPr lang="en-US" dirty="0" smtClean="0"/>
              <a:t/>
            </a:r>
            <a:br>
              <a:rPr lang="en-US" dirty="0" smtClean="0"/>
            </a:br>
            <a:endParaRPr lang="ar-SA" dirty="0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467544" y="2276872"/>
            <a:ext cx="8424936" cy="3960440"/>
          </a:xfrm>
        </p:spPr>
        <p:txBody>
          <a:bodyPr>
            <a:normAutofit/>
          </a:bodyPr>
          <a:lstStyle/>
          <a:p>
            <a:pPr marL="1828800" algn="l" rtl="0">
              <a:lnSpc>
                <a:spcPct val="115000"/>
              </a:lnSpc>
              <a:spcAft>
                <a:spcPts val="1000"/>
              </a:spcAft>
            </a:pPr>
            <a:r>
              <a:rPr lang="en-US" b="1" dirty="0" smtClean="0">
                <a:solidFill>
                  <a:srgbClr val="953735"/>
                </a:solidFill>
                <a:ea typeface="Calibri"/>
                <a:cs typeface="Arial"/>
              </a:rPr>
              <a:t>  (Operating Systems)</a:t>
            </a:r>
            <a:endParaRPr lang="en-US" sz="1600" dirty="0" smtClean="0">
              <a:ea typeface="Calibri"/>
              <a:cs typeface="Arial"/>
            </a:endParaRPr>
          </a:p>
          <a:p>
            <a:pPr algn="l" rtl="0">
              <a:lnSpc>
                <a:spcPct val="115000"/>
              </a:lnSpc>
              <a:spcAft>
                <a:spcPts val="1000"/>
              </a:spcAft>
            </a:pPr>
            <a:r>
              <a:rPr lang="en-US" sz="3600" b="1" dirty="0" smtClean="0">
                <a:solidFill>
                  <a:srgbClr val="7030A0"/>
                </a:solidFill>
                <a:ea typeface="Calibri"/>
                <a:cs typeface="Arial"/>
              </a:rPr>
              <a:t>  ***   Eng. Mohammed AL-Hams  ***</a:t>
            </a:r>
            <a:endParaRPr lang="en-US" sz="1600" dirty="0" smtClean="0">
              <a:ea typeface="Calibri"/>
              <a:cs typeface="Arial"/>
            </a:endParaRPr>
          </a:p>
          <a:p>
            <a:r>
              <a:rPr lang="en-US" sz="4000" b="1" dirty="0" smtClean="0">
                <a:solidFill>
                  <a:srgbClr val="000000"/>
                </a:solidFill>
                <a:ea typeface="Calibri"/>
                <a:cs typeface="Arial"/>
              </a:rPr>
              <a:t>Answers of </a:t>
            </a:r>
            <a:r>
              <a:rPr lang="en-US" sz="4000" b="1" dirty="0" smtClean="0">
                <a:solidFill>
                  <a:srgbClr val="000000"/>
                </a:solidFill>
                <a:ea typeface="Calibri"/>
                <a:cs typeface="Arial"/>
              </a:rPr>
              <a:t>Assignment </a:t>
            </a:r>
            <a:r>
              <a:rPr lang="en-US" sz="4000" b="1" dirty="0" smtClean="0">
                <a:solidFill>
                  <a:srgbClr val="000000"/>
                </a:solidFill>
                <a:ea typeface="Calibri"/>
                <a:cs typeface="Arial"/>
              </a:rPr>
              <a:t>1</a:t>
            </a:r>
          </a:p>
          <a:p>
            <a:r>
              <a:rPr lang="en-US" sz="4000" b="1" dirty="0" smtClean="0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b="1" dirty="0" smtClean="0">
                <a:solidFill>
                  <a:srgbClr val="002060"/>
                </a:solidFill>
                <a:ea typeface="Calibri"/>
                <a:cs typeface="Arial"/>
              </a:rPr>
              <a:t>Eng. </a:t>
            </a:r>
            <a:r>
              <a:rPr lang="en-US" b="1" dirty="0" err="1" smtClean="0">
                <a:solidFill>
                  <a:srgbClr val="002060"/>
                </a:solidFill>
                <a:ea typeface="Calibri"/>
                <a:cs typeface="Arial"/>
              </a:rPr>
              <a:t>Deema</a:t>
            </a:r>
            <a:r>
              <a:rPr lang="en-US" b="1" dirty="0" smtClean="0">
                <a:solidFill>
                  <a:srgbClr val="002060"/>
                </a:solidFill>
                <a:ea typeface="Calibri"/>
                <a:cs typeface="Arial"/>
              </a:rPr>
              <a:t> Mohammed AL-</a:t>
            </a:r>
            <a:r>
              <a:rPr lang="en-US" b="1" dirty="0" err="1" smtClean="0">
                <a:solidFill>
                  <a:srgbClr val="002060"/>
                </a:solidFill>
                <a:ea typeface="Calibri"/>
                <a:cs typeface="Arial"/>
              </a:rPr>
              <a:t>Maqadma</a:t>
            </a:r>
            <a:r>
              <a:rPr lang="en-US" b="1" dirty="0" smtClean="0">
                <a:solidFill>
                  <a:srgbClr val="002060"/>
                </a:solidFill>
                <a:ea typeface="Calibri"/>
                <a:cs typeface="Arial"/>
              </a:rPr>
              <a:t> </a:t>
            </a:r>
            <a:endParaRPr lang="en-US" sz="1400" dirty="0" smtClean="0">
              <a:ea typeface="Calibri"/>
              <a:cs typeface="Arial"/>
            </a:endParaRPr>
          </a:p>
          <a:p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164901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930226"/>
          </a:xfrm>
        </p:spPr>
        <p:txBody>
          <a:bodyPr>
            <a:noAutofit/>
          </a:bodyPr>
          <a:lstStyle/>
          <a:p>
            <a:pPr algn="l"/>
            <a:r>
              <a:rPr lang="en-US" sz="2800" b="1" dirty="0" smtClean="0">
                <a:solidFill>
                  <a:srgbClr val="C00000"/>
                </a:solidFill>
              </a:rPr>
              <a:t>-&gt; Installing Ubuntu and VMware, downloading an file, creating a new virtual machine with it, and installing the operating system inside.       </a:t>
            </a:r>
            <a:endParaRPr lang="ar-SA" sz="2800" b="1" dirty="0">
              <a:solidFill>
                <a:srgbClr val="C00000"/>
              </a:solidFill>
            </a:endParaRPr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916832"/>
            <a:ext cx="7848872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4967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SA" sz="4800" b="1" dirty="0" smtClean="0">
                <a:solidFill>
                  <a:srgbClr val="FF0000"/>
                </a:solidFill>
              </a:rPr>
              <a:t>  : </a:t>
            </a:r>
            <a:r>
              <a:rPr lang="en-US" sz="4800" b="1" dirty="0" smtClean="0">
                <a:solidFill>
                  <a:srgbClr val="FF0000"/>
                </a:solidFill>
              </a:rPr>
              <a:t> The User Information</a:t>
            </a:r>
            <a:r>
              <a:rPr lang="ar-SA" sz="4800" b="1" dirty="0" smtClean="0">
                <a:solidFill>
                  <a:srgbClr val="FF0000"/>
                </a:solidFill>
              </a:rPr>
              <a:t>---</a:t>
            </a:r>
            <a:endParaRPr lang="ar-SA" sz="4800" b="1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915" y="1600200"/>
            <a:ext cx="713817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7677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0070C0"/>
                </a:solidFill>
              </a:rPr>
              <a:t>1. </a:t>
            </a:r>
            <a:r>
              <a:rPr lang="en-US" sz="2800" b="1" dirty="0" err="1">
                <a:solidFill>
                  <a:srgbClr val="FF0000"/>
                </a:solidFill>
              </a:rPr>
              <a:t>ls</a:t>
            </a:r>
            <a:r>
              <a:rPr lang="en-US" sz="2800" b="1" dirty="0">
                <a:solidFill>
                  <a:srgbClr val="FF0000"/>
                </a:solidFill>
              </a:rPr>
              <a:t> -la  </a:t>
            </a:r>
            <a:r>
              <a:rPr lang="en-US" sz="2400" b="1" dirty="0">
                <a:solidFill>
                  <a:srgbClr val="0070C0"/>
                </a:solidFill>
              </a:rPr>
              <a:t>Displays all files and folders in the current directory, including hidden ones, </a:t>
            </a:r>
            <a:r>
              <a:rPr lang="en-US" sz="2400" b="1" dirty="0" smtClean="0">
                <a:solidFill>
                  <a:srgbClr val="0070C0"/>
                </a:solidFill>
              </a:rPr>
              <a:t>with detailed</a:t>
            </a:r>
            <a:r>
              <a:rPr lang="en-US" sz="2400" b="1" dirty="0">
                <a:solidFill>
                  <a:srgbClr val="0070C0"/>
                </a:solidFill>
              </a:rPr>
              <a:t> information.</a:t>
            </a:r>
            <a:endParaRPr lang="ar-SA" sz="2400" b="1" dirty="0">
              <a:solidFill>
                <a:srgbClr val="0070C0"/>
              </a:solidFill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12776"/>
            <a:ext cx="8064895" cy="5112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2271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2. </a:t>
            </a:r>
            <a:r>
              <a:rPr lang="en-US" sz="3600" b="1" dirty="0">
                <a:solidFill>
                  <a:srgbClr val="FF0000"/>
                </a:solidFill>
              </a:rPr>
              <a:t>cd /</a:t>
            </a:r>
            <a:r>
              <a:rPr lang="en-US" sz="3600" b="1" dirty="0" err="1">
                <a:solidFill>
                  <a:srgbClr val="FF0000"/>
                </a:solidFill>
              </a:rPr>
              <a:t>etc</a:t>
            </a:r>
            <a:r>
              <a:rPr lang="en-US" sz="3600" b="1" dirty="0">
                <a:solidFill>
                  <a:srgbClr val="FF0000"/>
                </a:solidFill>
              </a:rPr>
              <a:t>  </a:t>
            </a:r>
            <a:r>
              <a:rPr lang="en-US" sz="2800" b="1" dirty="0">
                <a:solidFill>
                  <a:srgbClr val="0070C0"/>
                </a:solidFill>
              </a:rPr>
              <a:t>Changes the current directory to /</a:t>
            </a:r>
            <a:r>
              <a:rPr lang="en-US" sz="2800" b="1" dirty="0" err="1">
                <a:solidFill>
                  <a:srgbClr val="0070C0"/>
                </a:solidFill>
              </a:rPr>
              <a:t>etc</a:t>
            </a:r>
            <a:r>
              <a:rPr lang="en-US" sz="2800" b="1" dirty="0">
                <a:solidFill>
                  <a:srgbClr val="0070C0"/>
                </a:solidFill>
              </a:rPr>
              <a:t>, which contains system configuration files.</a:t>
            </a:r>
            <a:endParaRPr lang="ar-SA" sz="2800" b="1" dirty="0">
              <a:solidFill>
                <a:srgbClr val="0070C0"/>
              </a:solidFill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84784"/>
            <a:ext cx="8208912" cy="504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2451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3</a:t>
            </a:r>
            <a:r>
              <a:rPr lang="en-US" sz="3200" b="1" dirty="0">
                <a:solidFill>
                  <a:srgbClr val="0070C0"/>
                </a:solidFill>
              </a:rPr>
              <a:t>. </a:t>
            </a:r>
            <a:r>
              <a:rPr lang="en-US" sz="3600" b="1" dirty="0" err="1">
                <a:solidFill>
                  <a:srgbClr val="FF0000"/>
                </a:solidFill>
              </a:rPr>
              <a:t>pwd</a:t>
            </a:r>
            <a:r>
              <a:rPr lang="en-US" sz="3200" b="1" dirty="0">
                <a:solidFill>
                  <a:srgbClr val="0070C0"/>
                </a:solidFill>
              </a:rPr>
              <a:t>  Shows the current directory path (to confirm your location).</a:t>
            </a:r>
            <a:endParaRPr lang="ar-SA" sz="3200" b="1" dirty="0">
              <a:solidFill>
                <a:srgbClr val="0070C0"/>
              </a:solidFill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600200"/>
            <a:ext cx="8064896" cy="4853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0767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4. </a:t>
            </a:r>
            <a:r>
              <a:rPr lang="en-US" sz="3600" b="1" dirty="0">
                <a:solidFill>
                  <a:srgbClr val="FF0000"/>
                </a:solidFill>
              </a:rPr>
              <a:t>man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</a:rPr>
              <a:t>ls</a:t>
            </a:r>
            <a:r>
              <a:rPr lang="en-US" sz="3200" b="1" dirty="0">
                <a:solidFill>
                  <a:srgbClr val="0070C0"/>
                </a:solidFill>
              </a:rPr>
              <a:t>  Opens the manual page for the </a:t>
            </a:r>
            <a:r>
              <a:rPr lang="en-US" sz="3200" b="1" dirty="0" err="1">
                <a:solidFill>
                  <a:srgbClr val="0070C0"/>
                </a:solidFill>
              </a:rPr>
              <a:t>ls</a:t>
            </a:r>
            <a:r>
              <a:rPr lang="en-US" sz="3200" b="1" dirty="0">
                <a:solidFill>
                  <a:srgbClr val="0070C0"/>
                </a:solidFill>
              </a:rPr>
              <a:t> command (to help understand its options).</a:t>
            </a:r>
            <a:endParaRPr lang="ar-SA" sz="3200" b="1" dirty="0">
              <a:solidFill>
                <a:srgbClr val="0070C0"/>
              </a:solidFill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1" y="1600200"/>
            <a:ext cx="7992888" cy="4853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7525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5. </a:t>
            </a:r>
            <a:r>
              <a:rPr lang="en-US" sz="3600" b="1" dirty="0" err="1">
                <a:solidFill>
                  <a:srgbClr val="FF0000"/>
                </a:solidFill>
              </a:rPr>
              <a:t>mkdir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</a:rPr>
              <a:t>test_dir</a:t>
            </a:r>
            <a:r>
              <a:rPr lang="en-US" sz="3600" b="1" dirty="0">
                <a:solidFill>
                  <a:srgbClr val="FF0000"/>
                </a:solidFill>
              </a:rPr>
              <a:t>  </a:t>
            </a:r>
            <a:r>
              <a:rPr lang="en-US" sz="3200" b="1" dirty="0">
                <a:solidFill>
                  <a:srgbClr val="0070C0"/>
                </a:solidFill>
              </a:rPr>
              <a:t>Creates a new directory named </a:t>
            </a:r>
            <a:r>
              <a:rPr lang="en-US" sz="3200" b="1" dirty="0" err="1">
                <a:solidFill>
                  <a:srgbClr val="0070C0"/>
                </a:solidFill>
              </a:rPr>
              <a:t>test_dir</a:t>
            </a:r>
            <a:r>
              <a:rPr lang="en-US" sz="3200" b="1" dirty="0">
                <a:solidFill>
                  <a:srgbClr val="0070C0"/>
                </a:solidFill>
              </a:rPr>
              <a:t>.</a:t>
            </a:r>
            <a:endParaRPr lang="ar-SA" sz="3200" b="1" dirty="0">
              <a:solidFill>
                <a:srgbClr val="0070C0"/>
              </a:solidFill>
            </a:endParaRP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600200"/>
            <a:ext cx="8064896" cy="4925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9647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6. </a:t>
            </a:r>
            <a:r>
              <a:rPr lang="en-US" sz="3600" b="1" dirty="0">
                <a:solidFill>
                  <a:srgbClr val="FF0000"/>
                </a:solidFill>
              </a:rPr>
              <a:t>touch </a:t>
            </a:r>
            <a:r>
              <a:rPr lang="en-US" sz="3600" b="1" dirty="0" err="1">
                <a:solidFill>
                  <a:srgbClr val="FF0000"/>
                </a:solidFill>
              </a:rPr>
              <a:t>test_dir</a:t>
            </a:r>
            <a:r>
              <a:rPr lang="en-US" sz="3600" b="1" dirty="0">
                <a:solidFill>
                  <a:srgbClr val="FF0000"/>
                </a:solidFill>
              </a:rPr>
              <a:t>/file.txt  </a:t>
            </a:r>
            <a:r>
              <a:rPr lang="en-US" sz="3200" b="1" dirty="0">
                <a:solidFill>
                  <a:srgbClr val="0070C0"/>
                </a:solidFill>
              </a:rPr>
              <a:t>Creates an empty file called file.txt inside the </a:t>
            </a:r>
            <a:r>
              <a:rPr lang="en-US" sz="3200" b="1" dirty="0" err="1">
                <a:solidFill>
                  <a:srgbClr val="0070C0"/>
                </a:solidFill>
              </a:rPr>
              <a:t>test_dir</a:t>
            </a:r>
            <a:r>
              <a:rPr lang="en-US" sz="3200" b="1" dirty="0">
                <a:solidFill>
                  <a:srgbClr val="0070C0"/>
                </a:solidFill>
              </a:rPr>
              <a:t> directory.</a:t>
            </a:r>
            <a:endParaRPr lang="ar-SA" sz="3200" b="1" dirty="0">
              <a:solidFill>
                <a:srgbClr val="0070C0"/>
              </a:solidFill>
            </a:endParaRP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600200"/>
            <a:ext cx="8136903" cy="4925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1390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7. </a:t>
            </a:r>
            <a:r>
              <a:rPr lang="en-US" sz="3600" b="1" dirty="0">
                <a:solidFill>
                  <a:srgbClr val="FF0000"/>
                </a:solidFill>
              </a:rPr>
              <a:t>cat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>
                <a:solidFill>
                  <a:srgbClr val="FF0000"/>
                </a:solidFill>
              </a:rPr>
              <a:t>/</a:t>
            </a:r>
            <a:r>
              <a:rPr lang="en-US" sz="3600" b="1" dirty="0" err="1">
                <a:solidFill>
                  <a:srgbClr val="FF0000"/>
                </a:solidFill>
              </a:rPr>
              <a:t>etc</a:t>
            </a:r>
            <a:r>
              <a:rPr lang="en-US" sz="3600" b="1" dirty="0">
                <a:solidFill>
                  <a:srgbClr val="FF0000"/>
                </a:solidFill>
              </a:rPr>
              <a:t>/hostname  </a:t>
            </a:r>
            <a:r>
              <a:rPr lang="en-US" sz="3200" b="1" dirty="0">
                <a:solidFill>
                  <a:srgbClr val="0070C0"/>
                </a:solidFill>
              </a:rPr>
              <a:t>Displays the device’s hostname (useful for network management).</a:t>
            </a:r>
            <a:endParaRPr lang="ar-SA" sz="3200" b="1" dirty="0">
              <a:solidFill>
                <a:srgbClr val="0070C0"/>
              </a:solidFill>
            </a:endParaRP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556792"/>
            <a:ext cx="7992888" cy="4925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12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8. </a:t>
            </a:r>
            <a:r>
              <a:rPr lang="en-US" sz="3600" b="1" dirty="0" err="1">
                <a:solidFill>
                  <a:srgbClr val="FF0000"/>
                </a:solidFill>
              </a:rPr>
              <a:t>whoami</a:t>
            </a:r>
            <a:r>
              <a:rPr lang="en-US" sz="3200" b="1" dirty="0">
                <a:solidFill>
                  <a:srgbClr val="0070C0"/>
                </a:solidFill>
              </a:rPr>
              <a:t>  Shows the current user’s name (to confirm your identity).</a:t>
            </a:r>
            <a:endParaRPr lang="ar-SA" sz="3200" b="1" dirty="0">
              <a:solidFill>
                <a:srgbClr val="0070C0"/>
              </a:solidFill>
            </a:endParaRPr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84784"/>
            <a:ext cx="8159994" cy="4968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6568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9. </a:t>
            </a:r>
            <a:r>
              <a:rPr lang="en-US" sz="3600" b="1" dirty="0">
                <a:solidFill>
                  <a:srgbClr val="FF0000"/>
                </a:solidFill>
              </a:rPr>
              <a:t>echo $HOME  </a:t>
            </a:r>
            <a:r>
              <a:rPr lang="en-US" sz="3200" b="1" dirty="0">
                <a:solidFill>
                  <a:srgbClr val="0070C0"/>
                </a:solidFill>
              </a:rPr>
              <a:t>Displays the path to the current user’s home directory.</a:t>
            </a:r>
            <a:endParaRPr lang="ar-SA" sz="3200" b="1" dirty="0">
              <a:solidFill>
                <a:srgbClr val="0070C0"/>
              </a:solidFill>
            </a:endParaRP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600200"/>
            <a:ext cx="8064896" cy="4997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7467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10. </a:t>
            </a:r>
            <a:r>
              <a:rPr lang="en-US" sz="3200" b="1" dirty="0">
                <a:solidFill>
                  <a:srgbClr val="FF0000"/>
                </a:solidFill>
              </a:rPr>
              <a:t>echo $PATH  </a:t>
            </a:r>
            <a:r>
              <a:rPr lang="en-US" sz="2800" b="1" dirty="0">
                <a:solidFill>
                  <a:srgbClr val="0070C0"/>
                </a:solidFill>
              </a:rPr>
              <a:t>Shows the system’s executable search paths (important for understanding how commands are found and run).</a:t>
            </a:r>
            <a:endParaRPr lang="ar-SA" sz="2800" b="1" dirty="0">
              <a:solidFill>
                <a:srgbClr val="0070C0"/>
              </a:solidFill>
            </a:endParaRPr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1" y="1600200"/>
            <a:ext cx="8064896" cy="4853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3148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11. </a:t>
            </a:r>
            <a:r>
              <a:rPr lang="en-US" sz="3200" b="1" dirty="0" err="1">
                <a:solidFill>
                  <a:srgbClr val="FF0000"/>
                </a:solidFill>
              </a:rPr>
              <a:t>rm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test_dir</a:t>
            </a:r>
            <a:r>
              <a:rPr lang="en-US" sz="3200" b="1" dirty="0">
                <a:solidFill>
                  <a:srgbClr val="FF0000"/>
                </a:solidFill>
              </a:rPr>
              <a:t>/file.txt </a:t>
            </a:r>
            <a:r>
              <a:rPr lang="en-US" sz="3200" b="1" dirty="0">
                <a:solidFill>
                  <a:srgbClr val="0070C0"/>
                </a:solidFill>
              </a:rPr>
              <a:t> Deletes the file </a:t>
            </a:r>
            <a:r>
              <a:rPr lang="en-US" sz="3200" b="1" dirty="0" smtClean="0">
                <a:solidFill>
                  <a:srgbClr val="0070C0"/>
                </a:solidFill>
              </a:rPr>
              <a:t>you created </a:t>
            </a:r>
            <a:r>
              <a:rPr lang="en-US" sz="3200" b="1" dirty="0">
                <a:solidFill>
                  <a:srgbClr val="0070C0"/>
                </a:solidFill>
              </a:rPr>
              <a:t>earlier </a:t>
            </a:r>
            <a:endParaRPr lang="ar-SA" sz="3200" b="1" dirty="0">
              <a:solidFill>
                <a:srgbClr val="0070C0"/>
              </a:solidFill>
            </a:endParaRPr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1" y="1484784"/>
            <a:ext cx="8064896" cy="489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4004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12. </a:t>
            </a:r>
            <a:r>
              <a:rPr lang="en-US" sz="3200" b="1" dirty="0">
                <a:solidFill>
                  <a:srgbClr val="FF0000"/>
                </a:solidFill>
              </a:rPr>
              <a:t>history</a:t>
            </a:r>
            <a:r>
              <a:rPr lang="en-US" sz="2800" b="1" dirty="0">
                <a:solidFill>
                  <a:srgbClr val="0070C0"/>
                </a:solidFill>
              </a:rPr>
              <a:t>  Displays a list of previously executed commands (to track what you’ve done).</a:t>
            </a:r>
            <a:endParaRPr lang="ar-SA" sz="2800" b="1" dirty="0">
              <a:solidFill>
                <a:srgbClr val="0070C0"/>
              </a:solidFill>
            </a:endParaRPr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600200"/>
            <a:ext cx="8064896" cy="4853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5564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 smtClean="0">
                <a:solidFill>
                  <a:srgbClr val="C00000"/>
                </a:solidFill>
              </a:rPr>
              <a:t>-&gt; The description of each command and its function : </a:t>
            </a:r>
            <a:endParaRPr lang="ar-SA" sz="3600" b="1" dirty="0">
              <a:solidFill>
                <a:srgbClr val="C00000"/>
              </a:solidFill>
            </a:endParaRPr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1600200"/>
            <a:ext cx="8291264" cy="4997152"/>
          </a:xfrm>
        </p:spPr>
        <p:txBody>
          <a:bodyPr>
            <a:noAutofit/>
          </a:bodyPr>
          <a:lstStyle/>
          <a:p>
            <a:r>
              <a:rPr lang="en-US" sz="3600" b="1" dirty="0" err="1" smtClean="0">
                <a:solidFill>
                  <a:srgbClr val="0070C0"/>
                </a:solidFill>
              </a:rPr>
              <a:t>ls</a:t>
            </a:r>
            <a:r>
              <a:rPr lang="en-US" sz="3600" b="1" dirty="0" smtClean="0">
                <a:solidFill>
                  <a:srgbClr val="0070C0"/>
                </a:solidFill>
              </a:rPr>
              <a:t> -la </a:t>
            </a:r>
            <a:r>
              <a:rPr lang="en-US" b="1" dirty="0" smtClean="0"/>
              <a:t>1</a:t>
            </a:r>
            <a:r>
              <a:rPr lang="ar-SA" b="1" dirty="0" smtClean="0"/>
              <a:t>عرض الملفات والمجلدات في الدليل الحالي مع التفاصيل (بما فيها المخفية).</a:t>
            </a:r>
          </a:p>
          <a:p>
            <a:r>
              <a:rPr lang="en-US" b="1" dirty="0" smtClean="0"/>
              <a:t>2</a:t>
            </a:r>
            <a:r>
              <a:rPr lang="ar-SA" b="1" dirty="0" smtClean="0"/>
              <a:t>.</a:t>
            </a:r>
            <a:r>
              <a:rPr lang="en-US" sz="3600" b="1" dirty="0" smtClean="0">
                <a:solidFill>
                  <a:srgbClr val="0070C0"/>
                </a:solidFill>
              </a:rPr>
              <a:t>cd /</a:t>
            </a:r>
            <a:r>
              <a:rPr lang="en-US" sz="3600" b="1" dirty="0" err="1" smtClean="0">
                <a:solidFill>
                  <a:srgbClr val="0070C0"/>
                </a:solidFill>
              </a:rPr>
              <a:t>etc</a:t>
            </a:r>
            <a:r>
              <a:rPr lang="en-US" sz="3600" b="1" dirty="0" smtClean="0">
                <a:solidFill>
                  <a:srgbClr val="0070C0"/>
                </a:solidFill>
              </a:rPr>
              <a:t> </a:t>
            </a:r>
            <a:r>
              <a:rPr lang="ar-SA" b="1" dirty="0" smtClean="0"/>
              <a:t>الانتقال إلى مجلد /</a:t>
            </a:r>
            <a:r>
              <a:rPr lang="en-US" b="1" dirty="0" err="1" smtClean="0"/>
              <a:t>etc</a:t>
            </a:r>
            <a:r>
              <a:rPr lang="en-US" b="1" dirty="0" smtClean="0"/>
              <a:t> </a:t>
            </a:r>
            <a:r>
              <a:rPr lang="ar-SA" b="1" dirty="0" smtClean="0"/>
              <a:t>يحتوي على ملفات إعدادات النظام.</a:t>
            </a:r>
          </a:p>
          <a:p>
            <a:r>
              <a:rPr lang="en-US" sz="3600" b="1" dirty="0" err="1" smtClean="0">
                <a:solidFill>
                  <a:srgbClr val="0070C0"/>
                </a:solidFill>
              </a:rPr>
              <a:t>Pwd</a:t>
            </a:r>
            <a:r>
              <a:rPr lang="en-US" b="1" dirty="0" smtClean="0"/>
              <a:t> 3 </a:t>
            </a:r>
            <a:r>
              <a:rPr lang="ar-SA" b="1" dirty="0" smtClean="0"/>
              <a:t>عرض المسار الحالي (لتأكيد الموقع).</a:t>
            </a:r>
          </a:p>
          <a:p>
            <a:r>
              <a:rPr lang="en-US" b="1" dirty="0" smtClean="0"/>
              <a:t>4</a:t>
            </a:r>
            <a:r>
              <a:rPr lang="ar-SA" b="1" dirty="0" smtClean="0"/>
              <a:t>.</a:t>
            </a:r>
            <a:r>
              <a:rPr lang="en-US" sz="3600" b="1" dirty="0" smtClean="0">
                <a:solidFill>
                  <a:srgbClr val="0070C0"/>
                </a:solidFill>
              </a:rPr>
              <a:t>man </a:t>
            </a:r>
            <a:r>
              <a:rPr lang="en-US" sz="3600" b="1" dirty="0" err="1" smtClean="0">
                <a:solidFill>
                  <a:srgbClr val="0070C0"/>
                </a:solidFill>
              </a:rPr>
              <a:t>ls</a:t>
            </a:r>
            <a:r>
              <a:rPr lang="en-US" sz="3600" b="1" dirty="0" smtClean="0">
                <a:solidFill>
                  <a:srgbClr val="0070C0"/>
                </a:solidFill>
              </a:rPr>
              <a:t> </a:t>
            </a:r>
            <a:r>
              <a:rPr lang="ar-SA" b="1" dirty="0" smtClean="0"/>
              <a:t>عرض الدليل الخاص بأمر </a:t>
            </a:r>
            <a:r>
              <a:rPr lang="en-US" b="1" dirty="0" err="1" smtClean="0"/>
              <a:t>ls</a:t>
            </a:r>
            <a:r>
              <a:rPr lang="ar-SA" b="1" dirty="0" smtClean="0"/>
              <a:t>للمساعدة في فهم الخيارات.</a:t>
            </a:r>
          </a:p>
          <a:p>
            <a:r>
              <a:rPr lang="en-US" b="1" dirty="0" smtClean="0"/>
              <a:t>5</a:t>
            </a:r>
            <a:r>
              <a:rPr lang="ar-SA" b="1" dirty="0" smtClean="0"/>
              <a:t>.</a:t>
            </a:r>
            <a:r>
              <a:rPr lang="en-US" sz="3600" b="1" dirty="0" err="1" smtClean="0">
                <a:solidFill>
                  <a:srgbClr val="0070C0"/>
                </a:solidFill>
              </a:rPr>
              <a:t>mkdir</a:t>
            </a:r>
            <a:r>
              <a:rPr lang="en-US" sz="3600" b="1" dirty="0" smtClean="0">
                <a:solidFill>
                  <a:srgbClr val="0070C0"/>
                </a:solidFill>
              </a:rPr>
              <a:t> </a:t>
            </a:r>
            <a:r>
              <a:rPr lang="en-US" sz="3600" b="1" dirty="0" err="1" smtClean="0">
                <a:solidFill>
                  <a:srgbClr val="0070C0"/>
                </a:solidFill>
              </a:rPr>
              <a:t>test_dir</a:t>
            </a:r>
            <a:r>
              <a:rPr lang="en-US" sz="3600" b="1" dirty="0" smtClean="0">
                <a:solidFill>
                  <a:srgbClr val="0070C0"/>
                </a:solidFill>
              </a:rPr>
              <a:t> </a:t>
            </a:r>
            <a:r>
              <a:rPr lang="ar-SA" b="1" dirty="0" smtClean="0"/>
              <a:t>إنشاء مجلد جديد باسم </a:t>
            </a:r>
            <a:r>
              <a:rPr lang="en-US" b="1" dirty="0" err="1" smtClean="0"/>
              <a:t>test_dir</a:t>
            </a:r>
            <a:r>
              <a:rPr lang="en-US" b="1" dirty="0" smtClean="0"/>
              <a:t>.</a:t>
            </a:r>
            <a:endParaRPr lang="ar-SA" b="1" dirty="0"/>
          </a:p>
        </p:txBody>
      </p:sp>
    </p:spTree>
    <p:extLst>
      <p:ext uri="{BB962C8B-B14F-4D97-AF65-F5344CB8AC3E}">
        <p14:creationId xmlns:p14="http://schemas.microsoft.com/office/powerpoint/2010/main" val="89836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6192688"/>
          </a:xfrm>
        </p:spPr>
        <p:txBody>
          <a:bodyPr>
            <a:normAutofit fontScale="92500"/>
          </a:bodyPr>
          <a:lstStyle/>
          <a:p>
            <a:r>
              <a:rPr lang="en-US" b="1" dirty="0" smtClean="0"/>
              <a:t>.</a:t>
            </a:r>
            <a:r>
              <a:rPr lang="en-US" sz="3500" b="1" dirty="0" smtClean="0">
                <a:solidFill>
                  <a:srgbClr val="0070C0"/>
                </a:solidFill>
              </a:rPr>
              <a:t>touch </a:t>
            </a:r>
            <a:r>
              <a:rPr lang="en-US" sz="3500" b="1" dirty="0" err="1" smtClean="0">
                <a:solidFill>
                  <a:srgbClr val="0070C0"/>
                </a:solidFill>
              </a:rPr>
              <a:t>test_dir</a:t>
            </a:r>
            <a:r>
              <a:rPr lang="en-US" sz="3500" b="1" dirty="0" smtClean="0">
                <a:solidFill>
                  <a:srgbClr val="0070C0"/>
                </a:solidFill>
              </a:rPr>
              <a:t>/file.txt6 </a:t>
            </a:r>
            <a:r>
              <a:rPr lang="ar-SA" b="1" dirty="0" smtClean="0"/>
              <a:t>إنشاء ملف فارغ داخل المجلد الجديد.</a:t>
            </a:r>
          </a:p>
          <a:p>
            <a:r>
              <a:rPr lang="ar-SA" b="1" dirty="0" smtClean="0"/>
              <a:t> </a:t>
            </a:r>
            <a:r>
              <a:rPr lang="en-US" b="1" dirty="0" smtClean="0"/>
              <a:t>7</a:t>
            </a:r>
            <a:r>
              <a:rPr lang="ar-SA" b="1" dirty="0" smtClean="0"/>
              <a:t>.</a:t>
            </a:r>
            <a:r>
              <a:rPr lang="en-US" sz="3500" b="1" dirty="0" smtClean="0">
                <a:solidFill>
                  <a:srgbClr val="0070C0"/>
                </a:solidFill>
              </a:rPr>
              <a:t>cat /</a:t>
            </a:r>
            <a:r>
              <a:rPr lang="en-US" sz="3500" b="1" dirty="0" err="1" smtClean="0">
                <a:solidFill>
                  <a:srgbClr val="0070C0"/>
                </a:solidFill>
              </a:rPr>
              <a:t>etc</a:t>
            </a:r>
            <a:r>
              <a:rPr lang="en-US" sz="3500" b="1" dirty="0" smtClean="0">
                <a:solidFill>
                  <a:srgbClr val="0070C0"/>
                </a:solidFill>
              </a:rPr>
              <a:t>/hostname </a:t>
            </a:r>
            <a:r>
              <a:rPr lang="ar-SA" b="1" dirty="0" smtClean="0"/>
              <a:t>عرض اسم الجهاز (مهم لإدارة الشبكات).</a:t>
            </a:r>
          </a:p>
          <a:p>
            <a:r>
              <a:rPr lang="ar-SA" b="1" dirty="0" smtClean="0"/>
              <a:t> </a:t>
            </a:r>
            <a:r>
              <a:rPr lang="en-US" b="1" dirty="0" smtClean="0"/>
              <a:t>8</a:t>
            </a:r>
            <a:r>
              <a:rPr lang="ar-SA" b="1" dirty="0" smtClean="0"/>
              <a:t>. </a:t>
            </a:r>
            <a:r>
              <a:rPr lang="en-US" sz="3500" b="1" dirty="0" err="1" smtClean="0">
                <a:solidFill>
                  <a:srgbClr val="0070C0"/>
                </a:solidFill>
              </a:rPr>
              <a:t>whoami</a:t>
            </a:r>
            <a:r>
              <a:rPr lang="ar-SA" b="1" dirty="0" smtClean="0"/>
              <a:t>عرض اسم المستخدم الحالي (لتأكيد الهوية).</a:t>
            </a:r>
          </a:p>
          <a:p>
            <a:r>
              <a:rPr lang="ar-SA" b="1" dirty="0" smtClean="0"/>
              <a:t> </a:t>
            </a:r>
            <a:r>
              <a:rPr lang="en-US" b="1" dirty="0" smtClean="0"/>
              <a:t>9</a:t>
            </a:r>
            <a:r>
              <a:rPr lang="ar-SA" b="1" dirty="0" smtClean="0"/>
              <a:t>.</a:t>
            </a:r>
            <a:r>
              <a:rPr lang="en-US" sz="3500" b="1" dirty="0" smtClean="0">
                <a:solidFill>
                  <a:srgbClr val="0070C0"/>
                </a:solidFill>
              </a:rPr>
              <a:t>echo $HOME </a:t>
            </a:r>
            <a:r>
              <a:rPr lang="ar-SA" b="1" dirty="0" smtClean="0"/>
              <a:t>عرض مسار المجلد الشخصي للمستخدم.</a:t>
            </a:r>
          </a:p>
          <a:p>
            <a:r>
              <a:rPr lang="ar-SA" b="1" dirty="0" smtClean="0"/>
              <a:t> </a:t>
            </a:r>
            <a:r>
              <a:rPr lang="en-US" b="1" dirty="0" smtClean="0"/>
              <a:t>10</a:t>
            </a:r>
            <a:r>
              <a:rPr lang="ar-SA" b="1" dirty="0" smtClean="0"/>
              <a:t>.</a:t>
            </a:r>
            <a:r>
              <a:rPr lang="en-US" sz="3500" b="1" dirty="0" smtClean="0">
                <a:solidFill>
                  <a:srgbClr val="0070C0"/>
                </a:solidFill>
              </a:rPr>
              <a:t>echo $PATH </a:t>
            </a:r>
            <a:r>
              <a:rPr lang="ar-SA" b="1" dirty="0" smtClean="0"/>
              <a:t>عرض مسارات الأوامر التنفيذية (مهم لفهم كيفية تنفيذ الأوامر).</a:t>
            </a:r>
          </a:p>
          <a:p>
            <a:r>
              <a:rPr lang="ar-SA" b="1" dirty="0" smtClean="0"/>
              <a:t> </a:t>
            </a:r>
            <a:r>
              <a:rPr lang="en-US" b="1" dirty="0" smtClean="0"/>
              <a:t>11</a:t>
            </a:r>
            <a:r>
              <a:rPr lang="ar-SA" b="1" dirty="0" smtClean="0"/>
              <a:t>.</a:t>
            </a:r>
            <a:r>
              <a:rPr lang="en-US" sz="3500" b="1" dirty="0" err="1" smtClean="0">
                <a:solidFill>
                  <a:srgbClr val="0070C0"/>
                </a:solidFill>
              </a:rPr>
              <a:t>rm</a:t>
            </a:r>
            <a:r>
              <a:rPr lang="en-US" sz="3500" b="1" dirty="0" smtClean="0">
                <a:solidFill>
                  <a:srgbClr val="0070C0"/>
                </a:solidFill>
              </a:rPr>
              <a:t> </a:t>
            </a:r>
            <a:r>
              <a:rPr lang="en-US" sz="3500" b="1" dirty="0" err="1" smtClean="0">
                <a:solidFill>
                  <a:srgbClr val="0070C0"/>
                </a:solidFill>
              </a:rPr>
              <a:t>test_dir</a:t>
            </a:r>
            <a:r>
              <a:rPr lang="en-US" sz="3500" b="1" dirty="0" smtClean="0">
                <a:solidFill>
                  <a:srgbClr val="0070C0"/>
                </a:solidFill>
              </a:rPr>
              <a:t>/file.txt </a:t>
            </a:r>
            <a:r>
              <a:rPr lang="ar-SA" b="1" dirty="0" smtClean="0"/>
              <a:t>حذف الملف الذي تم إنشاؤه</a:t>
            </a:r>
          </a:p>
          <a:p>
            <a:r>
              <a:rPr lang="ar-SA" b="1" dirty="0" smtClean="0"/>
              <a:t> </a:t>
            </a:r>
            <a:r>
              <a:rPr lang="en-US" b="1" dirty="0" smtClean="0"/>
              <a:t>12</a:t>
            </a:r>
            <a:r>
              <a:rPr lang="ar-SA" b="1" dirty="0" smtClean="0"/>
              <a:t>.</a:t>
            </a:r>
            <a:r>
              <a:rPr lang="en-US" sz="3500" b="1" dirty="0" smtClean="0">
                <a:solidFill>
                  <a:srgbClr val="0070C0"/>
                </a:solidFill>
              </a:rPr>
              <a:t>history</a:t>
            </a:r>
            <a:r>
              <a:rPr lang="en-US" b="1" dirty="0" smtClean="0"/>
              <a:t> </a:t>
            </a:r>
            <a:r>
              <a:rPr lang="ar-SA" b="1" dirty="0" smtClean="0"/>
              <a:t>عرض سجل الأوامر السابقة (لتتبع ما تم تنفيذه).</a:t>
            </a:r>
            <a:endParaRPr lang="ar-SA" b="1" dirty="0"/>
          </a:p>
        </p:txBody>
      </p:sp>
    </p:spTree>
    <p:extLst>
      <p:ext uri="{BB962C8B-B14F-4D97-AF65-F5344CB8AC3E}">
        <p14:creationId xmlns:p14="http://schemas.microsoft.com/office/powerpoint/2010/main" val="2052984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395536" y="2636912"/>
            <a:ext cx="8445624" cy="1224136"/>
          </a:xfrm>
        </p:spPr>
        <p:txBody>
          <a:bodyPr>
            <a:noAutofit/>
          </a:bodyPr>
          <a:lstStyle/>
          <a:p>
            <a:r>
              <a:rPr lang="ar-SA" b="1" dirty="0" smtClean="0">
                <a:solidFill>
                  <a:srgbClr val="7030A0"/>
                </a:solidFill>
              </a:rPr>
              <a:t>« واخر دعواهم أن الحمد لله رب العالمين «</a:t>
            </a:r>
            <a:endParaRPr lang="ar-SA" b="1" dirty="0"/>
          </a:p>
        </p:txBody>
      </p:sp>
    </p:spTree>
    <p:extLst>
      <p:ext uri="{BB962C8B-B14F-4D97-AF65-F5344CB8AC3E}">
        <p14:creationId xmlns:p14="http://schemas.microsoft.com/office/powerpoint/2010/main" val="417630805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399</Words>
  <Application>Microsoft Office PowerPoint</Application>
  <PresentationFormat>عرض على الشاشة (3:4)‏</PresentationFormat>
  <Paragraphs>33</Paragraphs>
  <Slides>18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18</vt:i4>
      </vt:variant>
    </vt:vector>
  </HeadingPairs>
  <TitlesOfParts>
    <vt:vector size="19" baseType="lpstr">
      <vt:lpstr>نسق Office</vt:lpstr>
      <vt:lpstr>بسم الله الرحمن الرحيم     </vt:lpstr>
      <vt:lpstr>-&gt; Installing Ubuntu and VMware, downloading an file, creating a new virtual machine with it, and installing the operating system inside.       </vt:lpstr>
      <vt:lpstr>  :  The User Information---</vt:lpstr>
      <vt:lpstr>1. ls -la  Displays all files and folders in the current directory, including hidden ones, with detailed information.</vt:lpstr>
      <vt:lpstr>2. cd /etc  Changes the current directory to /etc, which contains system configuration files.</vt:lpstr>
      <vt:lpstr>3. pwd  Shows the current directory path (to confirm your location).</vt:lpstr>
      <vt:lpstr>4. man ls  Opens the manual page for the ls command (to help understand its options).</vt:lpstr>
      <vt:lpstr>5. mkdir test_dir  Creates a new directory named test_dir.</vt:lpstr>
      <vt:lpstr>6. touch test_dir/file.txt  Creates an empty file called file.txt inside the test_dir directory.</vt:lpstr>
      <vt:lpstr>7. cat /etc/hostname  Displays the device’s hostname (useful for network management).</vt:lpstr>
      <vt:lpstr>8. whoami  Shows the current user’s name (to confirm your identity).</vt:lpstr>
      <vt:lpstr>9. echo $HOME  Displays the path to the current user’s home directory.</vt:lpstr>
      <vt:lpstr>10. echo $PATH  Shows the system’s executable search paths (important for understanding how commands are found and run).</vt:lpstr>
      <vt:lpstr>11. rm test_dir/file.txt  Deletes the file you created earlier </vt:lpstr>
      <vt:lpstr>12. history  Displays a list of previously executed commands (to track what you’ve done).</vt:lpstr>
      <vt:lpstr>-&gt; The description of each command and its function : </vt:lpstr>
      <vt:lpstr>عرض تقديمي في PowerPoint</vt:lpstr>
      <vt:lpstr>« واخر دعواهم أن الحمد لله رب العالمين «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Alaa</dc:creator>
  <cp:lastModifiedBy>Alaa</cp:lastModifiedBy>
  <cp:revision>19</cp:revision>
  <dcterms:created xsi:type="dcterms:W3CDTF">2025-06-07T14:31:14Z</dcterms:created>
  <dcterms:modified xsi:type="dcterms:W3CDTF">2025-06-12T13:21:07Z</dcterms:modified>
</cp:coreProperties>
</file>